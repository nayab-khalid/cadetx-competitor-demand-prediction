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r ul huda batool" userId="7736b3debb844f20" providerId="LiveId" clId="{229D933E-9899-4F58-AE8A-8CD5DF85EBA3}"/>
    <pc:docChg chg="modSld">
      <pc:chgData name="noor ul huda batool" userId="7736b3debb844f20" providerId="LiveId" clId="{229D933E-9899-4F58-AE8A-8CD5DF85EBA3}" dt="2026-09-22T16:29:05.186" v="1" actId="20577"/>
      <pc:docMkLst>
        <pc:docMk/>
      </pc:docMkLst>
      <pc:sldChg chg="modSp mod">
        <pc:chgData name="noor ul huda batool" userId="7736b3debb844f20" providerId="LiveId" clId="{229D933E-9899-4F58-AE8A-8CD5DF85EBA3}" dt="2026-09-22T16:29:05.186" v="1" actId="20577"/>
        <pc:sldMkLst>
          <pc:docMk/>
          <pc:sldMk cId="0" sldId="256"/>
        </pc:sldMkLst>
        <pc:spChg chg="mod">
          <ac:chgData name="noor ul huda batool" userId="7736b3debb844f20" providerId="LiveId" clId="{229D933E-9899-4F58-AE8A-8CD5DF85EBA3}" dt="2026-09-22T16:29:05.186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postings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bachelors_degree</c:v>
                </c:pt>
                <c:pt idx="1">
                  <c:v>sales</c:v>
                </c:pt>
                <c:pt idx="2">
                  <c:v>cross_functional_collab.</c:v>
                </c:pt>
                <c:pt idx="3">
                  <c:v>marketing</c:v>
                </c:pt>
                <c:pt idx="4">
                  <c:v>strategic_planning</c:v>
                </c:pt>
                <c:pt idx="5">
                  <c:v>stakeholder_mgmt</c:v>
                </c:pt>
                <c:pt idx="6">
                  <c:v>google_cloud</c:v>
                </c:pt>
                <c:pt idx="7">
                  <c:v>cs_degree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74.45</c:v>
                </c:pt>
                <c:pt idx="1">
                  <c:v>42.32</c:v>
                </c:pt>
                <c:pt idx="2">
                  <c:v>37.619999999999997</c:v>
                </c:pt>
                <c:pt idx="3">
                  <c:v>34.61</c:v>
                </c:pt>
                <c:pt idx="4">
                  <c:v>30.43</c:v>
                </c:pt>
                <c:pt idx="5">
                  <c:v>29.81</c:v>
                </c:pt>
                <c:pt idx="6">
                  <c:v>24.13</c:v>
                </c:pt>
                <c:pt idx="7">
                  <c:v>23.6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1-423B-ABC6-9D8302E3D5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postings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Monthly Postings (simulated calendar)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Postings/month</c:v>
                </c:pt>
              </c:strCache>
            </c:strRef>
          </c:tx>
          <c:spPr>
            <a:ln w="31750" cap="flat">
              <a:solidFill>
                <a:srgbClr val="4285F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285F4"/>
              </a:solidFill>
              <a:ln w="9525" cap="flat">
                <a:solidFill>
                  <a:srgbClr val="4285F4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57</c:v>
                </c:pt>
                <c:pt idx="1">
                  <c:v>36</c:v>
                </c:pt>
                <c:pt idx="2">
                  <c:v>70</c:v>
                </c:pt>
                <c:pt idx="3">
                  <c:v>52</c:v>
                </c:pt>
                <c:pt idx="4">
                  <c:v>50</c:v>
                </c:pt>
                <c:pt idx="5">
                  <c:v>46</c:v>
                </c:pt>
                <c:pt idx="6">
                  <c:v>64</c:v>
                </c:pt>
                <c:pt idx="7">
                  <c:v>39</c:v>
                </c:pt>
                <c:pt idx="8">
                  <c:v>49</c:v>
                </c:pt>
                <c:pt idx="9">
                  <c:v>57</c:v>
                </c:pt>
                <c:pt idx="10">
                  <c:v>44</c:v>
                </c:pt>
                <c:pt idx="11">
                  <c:v>40</c:v>
                </c:pt>
                <c:pt idx="12">
                  <c:v>46</c:v>
                </c:pt>
                <c:pt idx="13">
                  <c:v>47</c:v>
                </c:pt>
                <c:pt idx="14">
                  <c:v>46</c:v>
                </c:pt>
                <c:pt idx="15">
                  <c:v>39</c:v>
                </c:pt>
                <c:pt idx="16">
                  <c:v>45</c:v>
                </c:pt>
                <c:pt idx="17">
                  <c:v>53</c:v>
                </c:pt>
                <c:pt idx="18">
                  <c:v>34</c:v>
                </c:pt>
                <c:pt idx="19">
                  <c:v>47</c:v>
                </c:pt>
                <c:pt idx="20">
                  <c:v>43</c:v>
                </c:pt>
                <c:pt idx="21">
                  <c:v>53</c:v>
                </c:pt>
                <c:pt idx="22">
                  <c:v>31</c:v>
                </c:pt>
                <c:pt idx="23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E-4A84-B83B-01414677EB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8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Business/Soft</c:v>
                </c:pt>
                <c:pt idx="1">
                  <c:v>Cloud/Infra</c:v>
                </c:pt>
                <c:pt idx="2">
                  <c:v>Data/ML</c:v>
                </c:pt>
                <c:pt idx="3">
                  <c:v>Programming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47.37</c:v>
                </c:pt>
                <c:pt idx="1">
                  <c:v>7.17</c:v>
                </c:pt>
                <c:pt idx="2">
                  <c:v>4.3099999999999996</c:v>
                </c:pt>
                <c:pt idx="3">
                  <c:v>14.22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7E-4212-9D87-95C5F0A0AB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rgbClr val="FBBC0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Business/Soft</c:v>
                </c:pt>
                <c:pt idx="1">
                  <c:v>Cloud/Infra</c:v>
                </c:pt>
                <c:pt idx="2">
                  <c:v>Data/ML</c:v>
                </c:pt>
                <c:pt idx="3">
                  <c:v>Programming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51.94</c:v>
                </c:pt>
                <c:pt idx="1">
                  <c:v>0</c:v>
                </c:pt>
                <c:pt idx="2">
                  <c:v>8.5299999999999994</c:v>
                </c:pt>
                <c:pt idx="3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7E-4212-9D87-95C5F0A0A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flat">
              <a:solidFill>
                <a:srgbClr val="4285F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285F4"/>
              </a:solidFill>
              <a:ln w="9525" cap="flat">
                <a:solidFill>
                  <a:srgbClr val="4285F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2024-07</c:v>
                </c:pt>
                <c:pt idx="1">
                  <c:v>2024-08</c:v>
                </c:pt>
                <c:pt idx="2">
                  <c:v>2024-09</c:v>
                </c:pt>
                <c:pt idx="3">
                  <c:v>2024-10</c:v>
                </c:pt>
                <c:pt idx="4">
                  <c:v>2024-11</c:v>
                </c:pt>
                <c:pt idx="5">
                  <c:v>2024-12</c:v>
                </c:pt>
                <c:pt idx="6">
                  <c:v>2025-01</c:v>
                </c:pt>
                <c:pt idx="7">
                  <c:v>2025-02</c:v>
                </c:pt>
                <c:pt idx="8">
                  <c:v>2025-03</c:v>
                </c:pt>
                <c:pt idx="9">
                  <c:v>2025-04</c:v>
                </c:pt>
                <c:pt idx="10">
                  <c:v>2025-05</c:v>
                </c:pt>
                <c:pt idx="11">
                  <c:v>2025-06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</c:v>
                </c:pt>
                <c:pt idx="1">
                  <c:v>47</c:v>
                </c:pt>
                <c:pt idx="2">
                  <c:v>43</c:v>
                </c:pt>
                <c:pt idx="3">
                  <c:v>53</c:v>
                </c:pt>
                <c:pt idx="4">
                  <c:v>31</c:v>
                </c:pt>
                <c:pt idx="5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5-45FB-ACB4-AD845ED796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 cap="flat">
              <a:solidFill>
                <a:srgbClr val="EA433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A4335"/>
              </a:solidFill>
              <a:ln w="9525" cap="flat">
                <a:solidFill>
                  <a:srgbClr val="EA433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2024-07</c:v>
                </c:pt>
                <c:pt idx="1">
                  <c:v>2024-08</c:v>
                </c:pt>
                <c:pt idx="2">
                  <c:v>2024-09</c:v>
                </c:pt>
                <c:pt idx="3">
                  <c:v>2024-10</c:v>
                </c:pt>
                <c:pt idx="4">
                  <c:v>2024-11</c:v>
                </c:pt>
                <c:pt idx="5">
                  <c:v>2024-12</c:v>
                </c:pt>
                <c:pt idx="6">
                  <c:v>2025-01</c:v>
                </c:pt>
                <c:pt idx="7">
                  <c:v>2025-02</c:v>
                </c:pt>
                <c:pt idx="8">
                  <c:v>2025-03</c:v>
                </c:pt>
                <c:pt idx="9">
                  <c:v>2025-04</c:v>
                </c:pt>
                <c:pt idx="10">
                  <c:v>2025-05</c:v>
                </c:pt>
                <c:pt idx="11">
                  <c:v>2025-06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5">
                  <c:v>39</c:v>
                </c:pt>
                <c:pt idx="6">
                  <c:v>39.700000000000003</c:v>
                </c:pt>
                <c:pt idx="7">
                  <c:v>39.1</c:v>
                </c:pt>
                <c:pt idx="8">
                  <c:v>38.6</c:v>
                </c:pt>
                <c:pt idx="9">
                  <c:v>38</c:v>
                </c:pt>
                <c:pt idx="10">
                  <c:v>37.5</c:v>
                </c:pt>
                <c:pt idx="11">
                  <c:v>36.9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C5-45FB-ACB4-AD845ED796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246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 heatmap and category-level trend charts are in Task5_Hiring_Trend_Analysis/visuals/.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HIRING INTELLIGENCE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Competitor Demand from Job Postings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track: Google  |  Job-Posting Intelligence Internship Programme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Ul Huda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1 - 12  |  Final Presentation &amp;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Why It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read the market backward-looking - news, financials, assumptions. Job postings show what a company plans to do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Google's own job postings into a forecast of: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 technology demand trends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velocity, growth and slowdown signals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/ subsidiary positioning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6-month-ahead hiring demand forecasts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188720"/>
            <a:ext cx="1554480" cy="15544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6949440" y="1468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this: Strategy,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PM, CEO/CTO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52560" y="1188720"/>
            <a:ext cx="1554480" cy="15544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 txBox="1"/>
          <p:nvPr/>
        </p:nvSpPr>
        <p:spPr>
          <a:xfrm>
            <a:off x="9052560" y="14685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Google/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postings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3566160"/>
            <a:ext cx="1554480" cy="1554480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 txBox="1"/>
          <p:nvPr/>
        </p:nvSpPr>
        <p:spPr>
          <a:xfrm>
            <a:off x="6949440" y="384596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5193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taxonomy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566160"/>
            <a:ext cx="1554480" cy="15544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9052560" y="384596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6mo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5193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(team-aligned)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(Tasks 1 - 9)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548640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38528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 txBox="1"/>
          <p:nvPr/>
        </p:nvSpPr>
        <p:spPr>
          <a:xfrm>
            <a:off x="1938528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28416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FBBC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3328416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18304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 txBox="1"/>
          <p:nvPr/>
        </p:nvSpPr>
        <p:spPr>
          <a:xfrm>
            <a:off x="4718304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07024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08192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 txBox="1"/>
          <p:nvPr/>
        </p:nvSpPr>
        <p:spPr>
          <a:xfrm>
            <a:off x="6108192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08192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98080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 txBox="1"/>
          <p:nvPr/>
        </p:nvSpPr>
        <p:spPr>
          <a:xfrm>
            <a:off x="7498080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887968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FBBC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 txBox="1"/>
          <p:nvPr/>
        </p:nvSpPr>
        <p:spPr>
          <a:xfrm>
            <a:off x="8887968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887968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76688" y="26974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277856" y="237744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 txBox="1"/>
          <p:nvPr/>
        </p:nvSpPr>
        <p:spPr>
          <a:xfrm>
            <a:off x="10277856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277856" y="2834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stage's output is a versioned CSV/JSON that the next stage reads - fully reproducible end to end, and the same code runs against any of the team's four companies.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layout: Task3_NLP_Preprocessing / Task4_Skill_Extraction... / Task5_Hiring_Trend_Analysis / Task6_Competitor_Comparison / Task7_Demand_Forecasting / Task8_Company_Similarity_Scoring / Task9_Insight_Generation_Reporting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Legal Foundation (Tasks 1-2)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“Google Job Skills” dataset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scraped from Google Careers (by dataset creator), license CC BY-NC-SA 4.0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 raw postings → 1,127 after removing 123 exact duplicates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Company, Title, Category, Location, Responsibilities, Min/Preferred Qualifications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Ethical Checks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/ non-commercial use only, source attributed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scraping of Google Careers performed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or sensitive data collected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real posting-date field. This was not caught in Tasks 1-2.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5 &amp; 7 need a time series, so Task 3 adds a seeded, reproducible SIMULATED posting_date (2023-2024), flagged in every downstream file with posting_date_is_simulated = True.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5394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forecast results below demonstrate the methodology; absolute values are not real Google hiring activity.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Preprocessing &amp; Skill Extraction (Tasks 3-4)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tokenize → remove stopwords → lemmatize (NLTK)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Symbol-aware cleaning keeps c++, c#, node.js intact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97-skill shared taxonomy across 9 categories (regex-based)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format reusable as-is by all 4 companies on the team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371600" cy="137160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 txBox="1"/>
          <p:nvPr/>
        </p:nvSpPr>
        <p:spPr>
          <a:xfrm>
            <a:off x="548640" y="445312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5650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&gt;=1 skill matched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4206240"/>
            <a:ext cx="1371600" cy="137160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2286000" y="445312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5650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skills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matched/posting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4206240"/>
            <a:ext cx="1371600" cy="1371600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 txBox="1"/>
          <p:nvPr/>
        </p:nvSpPr>
        <p:spPr>
          <a:xfrm>
            <a:off x="4023360" y="445312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5650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tokens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posting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by Coverage</a:t>
            </a:r>
            <a:endParaRPr lang="en-US" sz="15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309360" y="1554480"/>
          <a:ext cx="5303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Trend Analysis (Task 5)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4300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14300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 txBox="1"/>
          <p:nvPr/>
        </p:nvSpPr>
        <p:spPr>
          <a:xfrm>
            <a:off x="86410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828800"/>
            <a:ext cx="2743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47 postings/month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Growing: Technical Solutions (+73%), Partnerships (+35%)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skills: data_mining, virtualization, ruby, rest_api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Declining: Manufacturing &amp; Supply Chain, Administrative, Legal &amp; Gov't Relations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Comparison: Google vs YouTube (Task 6)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note: this member's data covers Google/YouTube only. The framework auto-merges other companies from competitor_data/ the moment teammates share their Task 4 output.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754880" cy="12801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 Mix (% of skill mentions)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3749040"/>
          <a:ext cx="5029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18288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4"/>
          <p:cNvSpPr txBox="1"/>
          <p:nvPr/>
        </p:nvSpPr>
        <p:spPr>
          <a:xfrm>
            <a:off x="62179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gap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251460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Skill-vocabulary overlap (Jaccard): 0.40 - only ~40% of skills shared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 shape (cosine): 0.99 - almost identical profile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0 Cloud &amp; Infra mentions vs Google's 7.2% - directional signal, small sample (n=20)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YouTube isn't hiring differently from Google - it's hiring with a smaller vocabulary inside the same shape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Forecasting: Next 6 Months (Task 7)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18872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 txBox="1"/>
          <p:nvPr/>
        </p:nvSpPr>
        <p:spPr>
          <a:xfrm>
            <a:off x="804672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Holt's Linear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(damped trend)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monthly points → too short for stable ARIMA order selection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avoids unrealistic runaway extrapolation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6-month horizon across the team's 4 companies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demand: ~40 → ~37 postings/month, flat-to-mild decline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Similarity Scoring (Task 8)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similarity 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Overlap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skill-vocabulary overlap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 txBox="1"/>
          <p:nvPr/>
        </p:nvSpPr>
        <p:spPr>
          <a:xfrm>
            <a:off x="448056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 “shape” similarity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Posting-language similarity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 txBox="1"/>
          <p:nvPr/>
        </p:nvSpPr>
        <p:spPr>
          <a:xfrm>
            <a:off x="868680" y="45262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read: the gap between a low Jaccard score and a near-1.0 profile-cosine score is itself the insight - YouTube isn't a differently-postured employer than Google, it's a smaller-vocabulary one operating inside the same tech-stack shape. Ready to extend to all 4 companies via competitor_data/.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Google's Hiring Strategy &amp; Position (Task 9)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9728" cy="1051560"/>
          </a:xfrm>
          <a:prstGeom prst="round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 txBox="1"/>
          <p:nvPr/>
        </p:nvSpPr>
        <p:spPr>
          <a:xfrm>
            <a:off x="914400" y="12161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technical identity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dominates named platform skills; no competing cloud platform appears in the taxonomy matches.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09728" cy="1051560"/>
          </a:xfrm>
          <a:prstGeom prst="round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 txBox="1"/>
          <p:nvPr/>
        </p:nvSpPr>
        <p:spPr>
          <a:xfrm>
            <a:off x="914400" y="2496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weight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Marketing &amp; Partnerships are among the largest and fastest-growing categories - commercial expansion alongside product 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09728" cy="1051560"/>
          </a:xfrm>
          <a:prstGeom prst="roundRect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 txBox="1"/>
          <p:nvPr/>
        </p:nvSpPr>
        <p:spPr>
          <a:xfrm>
            <a:off x="914400" y="37764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Reliability/infra tilt in growth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60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rest_api and Technical Solutions growing fastest - a maturing cloud/infra business, not early-stage feature-building.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09728" cy="1051560"/>
          </a:xfrm>
          <a:prstGeom prst="round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 txBox="1"/>
          <p:nvPr/>
        </p:nvSpPr>
        <p:spPr>
          <a:xfrm>
            <a:off x="914400" y="5056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subsidiary hiring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tracks Google's tech-stack shape almost exactly despite a much smaller, narrower posting set.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posting-date field → trend/forecast use a documented, seeded synthetic calendar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dataset → competitor comparison validated on Google/YouTube only so far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Regex/keyword skill extraction can miss unanticipated phrasing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YouTube's small sample (n=20) makes its metrics directional, not confirmatory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(Tasks 11-12, optional)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pipeline: scheduled end-to-end run, Tasks 3-9 chained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skill-extraction model (spaCy NER) to raise recall beyond the regex taxonomy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 the other 3 companies' data via competitor_data/ for the full team comparison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dates with real collection timestamps once a live source is approved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Ul Huda  |  Google Hiring Intelligence  |  Full workspace: Task3-Task9 folders, GitHub-ready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Microsoft Office PowerPoint</Application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noor ul huda batool</cp:lastModifiedBy>
  <cp:revision>1</cp:revision>
  <dcterms:created xsi:type="dcterms:W3CDTF">2026-09-22T15:38:52Z</dcterms:created>
  <dcterms:modified xsi:type="dcterms:W3CDTF">2026-09-22T16:29:07Z</dcterms:modified>
</cp:coreProperties>
</file>